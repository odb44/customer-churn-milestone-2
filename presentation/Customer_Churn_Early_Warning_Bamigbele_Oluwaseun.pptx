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ln w="25400" cap="flat">
                <a:solidFill>
                  <a:srgbClr val="1E2761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484D"/>
              </a:solidFill>
              <a:ln w="25400" cap="flat">
                <a:solidFill>
                  <a:srgbClr val="1E2761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Stayed</c:v>
                </c:pt>
                <c:pt idx="1">
                  <c:v>Churned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92.2</c:v>
                </c:pt>
                <c:pt idx="1">
                  <c:v>7.8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327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3273A"/>
                </a:solidFill>
                <a:latin typeface="Arial"/>
              </a:rPr>
              <a:t>Churn rate by days since last order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(%)</c:v>
                </c:pt>
              </c:strCache>
            </c:strRef>
          </c:tx>
          <c:spPr>
            <a:solidFill>
              <a:srgbClr val="9AA5D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27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5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A5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≤7</c:v>
                  </c:pt>
                  <c:pt idx="1">
                    <c:v>8–14</c:v>
                  </c:pt>
                  <c:pt idx="2">
                    <c:v>15–21</c:v>
                  </c:pt>
                  <c:pt idx="3">
                    <c:v>22–28</c:v>
                  </c:pt>
                  <c:pt idx="4">
                    <c:v>29–35</c:v>
                  </c:pt>
                  <c:pt idx="5">
                    <c:v>36–42</c:v>
                  </c:pt>
                  <c:pt idx="6">
                    <c:v>43–56</c:v>
                  </c:pt>
                  <c:pt idx="7">
                    <c:v>57–84</c:v>
                  </c:pt>
                  <c:pt idx="8">
                    <c:v>85+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3.2</c:v>
                </c:pt>
                <c:pt idx="1">
                  <c:v>4.31</c:v>
                </c:pt>
                <c:pt idx="2">
                  <c:v>5.09</c:v>
                </c:pt>
                <c:pt idx="3">
                  <c:v>6.58</c:v>
                </c:pt>
                <c:pt idx="4">
                  <c:v>9.54</c:v>
                </c:pt>
                <c:pt idx="5">
                  <c:v>12.37</c:v>
                </c:pt>
                <c:pt idx="6">
                  <c:v>15.58</c:v>
                </c:pt>
                <c:pt idx="7">
                  <c:v>34.16</c:v>
                </c:pt>
                <c:pt idx="8">
                  <c:v>67.31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2327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584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584"/>
                    </a:solidFill>
                    <a:latin typeface="Arial"/>
                  </a:rPr>
                  <a:t>Days since last order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3E7F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3273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3273A"/>
                </a:solidFill>
                <a:latin typeface="Arial"/>
              </a:rPr>
              <a:t>What pushes churn risk up or down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E5484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327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5484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D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Days since last order</c:v>
                  </c:pt>
                  <c:pt idx="1">
                    <c:v>Support tickets</c:v>
                  </c:pt>
                  <c:pt idx="2">
                    <c:v>Orders last quarter</c:v>
                  </c:pt>
                  <c:pt idx="3">
                    <c:v>Months active</c:v>
                  </c:pt>
                  <c:pt idx="4">
                    <c:v>Average order value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</c:v>
                </c:pt>
                <c:pt idx="1">
                  <c:v>0.46</c:v>
                </c:pt>
                <c:pt idx="2">
                  <c:v>-0.26</c:v>
                </c:pt>
                <c:pt idx="3">
                  <c:v>-0.22</c:v>
                </c:pt>
                <c:pt idx="4">
                  <c:v>-0.03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327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7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0.5"/>
        </c:scaling>
        <c:delete val="0"/>
        <c:axPos val="b"/>
        <c:majorGridlines>
          <c:spPr>
            <a:ln w="6350" cap="flat">
              <a:solidFill>
                <a:srgbClr val="E3E7F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584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584"/>
                    </a:solidFill>
                    <a:latin typeface="Arial"/>
                  </a:rPr>
                  <a:t>Logistic Regression coefficient (standardised). Positive = higher churn risk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business question: can we identify customers likely to churn using information we already have? Churn means a customer who stopped buying from us. The rest of the deck follows the flow on the right: customer, behaviour, churn.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Twenty thousand customers, five behavioural features, and a yes/no target. Only about 8% churn, so a model that always says "no churn" is 92% accurate and useless. That is why we evaluate on precision, recall and F1.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Churners average 42 days since their last order versus 18 for customers who stayed. The bands show a steady climb, then a jump: 34% churn at 57 to 84 days and 67% beyond 84 days. The other four features are weaker.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pipeline: data, feature engineering, a stratified 60/20/20 split, then four models. Each model handles the class imbalance in its own way. We tested three engineered ratio features and they added nothing, so the original five carry the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table by ROC-AUC, recall and F1, not accuracy. Logistic Regression and Gradient Boosting are close; Random Forest and KNN memorise the training data. The last two rows are baselines: predicting nobody churns scores 92% accuracy, and recency alone already reaches 0.74 ROC-AUC.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coefficients agree with the exploratory analysis. Recency dominates, support tickets add a secondary signal, recent orders and tenure pull risk down, and order value barely matters. Coefficients describe association, not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is decision support, not an automatic decision. Ranking lets a team with limited capacity focus on the riskiest customers: the top 10% contains 39% of all churners. The cost view uses placeholder figures and only shows that the best threshold depends on contact cost and retention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Recommendation: carry Logistic Regression forward. It ranks best on both validation and test, is stable across splits and is easy to explain. Be upfront about the trade-off: at the default threshold precision is about 19%. The next step is choosing the threshold from real costs and confirming when recency is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777240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assets/logo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68" y="905256"/>
            <a:ext cx="832104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9024" y="859536"/>
            <a:ext cx="0" cy="310896"/>
          </a:xfrm>
          <a:prstGeom prst="line">
            <a:avLst/>
          </a:prstGeom>
          <a:noFill/>
          <a:ln w="12700">
            <a:solidFill>
              <a:srgbClr val="C9CEDD"/>
            </a:solidFill>
            <a:prstDash val="solid"/>
          </a:ln>
        </p:spPr>
      </p:sp>
      <p:pic>
        <p:nvPicPr>
          <p:cNvPr id="5" name="Image 1" descr="assets/l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76" y="905256"/>
            <a:ext cx="76809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TESA COHORT 6  —  AI ENGINEERING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743200"/>
            <a:ext cx="6309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Early-Warning Model</a:t>
            </a:r>
            <a:endParaRPr lang="en-US" sz="44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452628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 2 — can customer behaviour tell us who is about to leave, early enough to act?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02920" y="5623560"/>
            <a:ext cx="128016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 Bamigbele Oluwaseun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178040" y="2743200"/>
            <a:ext cx="4480560" cy="868680"/>
          </a:xfrm>
          <a:prstGeom prst="roundRect">
            <a:avLst>
              <a:gd name="adj" fmla="val 10526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379208" y="2926080"/>
            <a:ext cx="502920" cy="50292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141B49"/>
            </a:solidFill>
            <a:prstDash val="solid"/>
          </a:ln>
        </p:spPr>
      </p:sp>
      <p:pic>
        <p:nvPicPr>
          <p:cNvPr id="13" name="Image 2" descr="assets/icon_custom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4996" y="3061868"/>
            <a:ext cx="231343" cy="23134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92440" y="28620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092440" y="32004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customers on record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9299448" y="3657600"/>
            <a:ext cx="237744" cy="201168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178040" y="3904488"/>
            <a:ext cx="4480560" cy="868680"/>
          </a:xfrm>
          <a:prstGeom prst="roundRect">
            <a:avLst>
              <a:gd name="adj" fmla="val 10526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379208" y="4087368"/>
            <a:ext cx="502920" cy="50292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141B49"/>
            </a:solidFill>
            <a:prstDash val="solid"/>
          </a:ln>
        </p:spPr>
      </p:sp>
      <p:pic>
        <p:nvPicPr>
          <p:cNvPr id="19" name="Image 3" descr="assets/icon_behaviou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4996" y="4223156"/>
            <a:ext cx="231343" cy="23134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092440" y="40233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8092440" y="4361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Recency, orders and support activity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9299448" y="4818888"/>
            <a:ext cx="237744" cy="201168"/>
          </a:xfrm>
          <a:prstGeom prst="down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178040" y="5065776"/>
            <a:ext cx="4480560" cy="868680"/>
          </a:xfrm>
          <a:prstGeom prst="roundRect">
            <a:avLst>
              <a:gd name="adj" fmla="val 10526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379208" y="5248656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5" name="Image 4" descr="assets/icon_chur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996" y="5384444"/>
            <a:ext cx="231343" cy="2313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092440" y="518464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8092440" y="55229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leave. Can we spot them first?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292608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3" name="Image 0" descr="assets/logo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68" y="420624"/>
            <a:ext cx="832104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9024" y="374904"/>
            <a:ext cx="0" cy="310896"/>
          </a:xfrm>
          <a:prstGeom prst="line">
            <a:avLst/>
          </a:prstGeom>
          <a:noFill/>
          <a:ln w="12700">
            <a:solidFill>
              <a:srgbClr val="C9CEDD"/>
            </a:solidFill>
            <a:prstDash val="solid"/>
          </a:ln>
        </p:spPr>
      </p:sp>
      <p:pic>
        <p:nvPicPr>
          <p:cNvPr id="5" name="Image 1" descr="assets/l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76" y="420624"/>
            <a:ext cx="76809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THE DATA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7132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Identify Likely Churners?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11373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50876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retention team can only act on customers it knows are at risk. We tested whether behaviour already on record can flag them.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02920" y="2606040"/>
            <a:ext cx="603504" cy="6035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2" descr="assets/icon_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" y="2768986"/>
            <a:ext cx="277612" cy="2776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62432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customers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1325880" y="295351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customer, with no missing values or duplicates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02920" y="3657600"/>
            <a:ext cx="603504" cy="6035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5" name="Image 3" descr="assets/icon_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" y="3820546"/>
            <a:ext cx="277612" cy="2776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325880" y="36758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behavioural features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1325880" y="40050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Tenure, order value, recent orders, days since last order, support tickets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02920" y="4709160"/>
            <a:ext cx="603504" cy="60350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9" name="Image 4" descr="assets/icon_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66" y="4872106"/>
            <a:ext cx="277612" cy="2776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325880" y="472744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 is the target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1325880" y="50566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= the customer left, 0 = the customer stayed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7223760" y="1508760"/>
            <a:ext cx="4462272" cy="4297680"/>
          </a:xfrm>
          <a:prstGeom prst="roundRect">
            <a:avLst>
              <a:gd name="adj" fmla="val 212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7589520" y="178308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BALANCE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8046720" y="2103120"/>
          <a:ext cx="283464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Text 17"/>
          <p:cNvSpPr txBox="1"/>
          <p:nvPr/>
        </p:nvSpPr>
        <p:spPr>
          <a:xfrm>
            <a:off x="8732520" y="2788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3400" dirty="0"/>
          </a:p>
        </p:txBody>
      </p:sp>
      <p:sp>
        <p:nvSpPr>
          <p:cNvPr id="26" name="Text 18"/>
          <p:cNvSpPr txBox="1"/>
          <p:nvPr/>
        </p:nvSpPr>
        <p:spPr>
          <a:xfrm>
            <a:off x="8732520" y="33192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7589520" y="4407408"/>
            <a:ext cx="146304" cy="1463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7863840" y="43434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Stayed: 92.2% (18,433 customers)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7589520" y="4736592"/>
            <a:ext cx="146304" cy="146304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7863840" y="467258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Churned: 7.8% (1,567 customers)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7589520" y="5074920"/>
            <a:ext cx="3730752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7589520" y="5166360"/>
            <a:ext cx="3730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trap: predicting “nobody churns” is already 92% accurate.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502920" y="60533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imbalance shapes how we judge models: precision, recall and F1 matter more than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292608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3" name="Image 0" descr="assets/logo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68" y="420624"/>
            <a:ext cx="832104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9024" y="374904"/>
            <a:ext cx="0" cy="310896"/>
          </a:xfrm>
          <a:prstGeom prst="line">
            <a:avLst/>
          </a:prstGeom>
          <a:noFill/>
          <a:ln w="12700">
            <a:solidFill>
              <a:srgbClr val="C9CEDD"/>
            </a:solidFill>
            <a:prstDash val="solid"/>
          </a:ln>
        </p:spPr>
      </p:sp>
      <p:pic>
        <p:nvPicPr>
          <p:cNvPr id="5" name="Image 1" descr="assets/l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76" y="420624"/>
            <a:ext cx="76809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REVEALED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7132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Inactivity Stands Out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11373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417320"/>
          <a:ext cx="75895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8458200" y="1508760"/>
            <a:ext cx="3227832" cy="1600200"/>
          </a:xfrm>
          <a:prstGeom prst="roundRect">
            <a:avLst>
              <a:gd name="adj" fmla="val 5714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732520" y="164592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 days</a:t>
            </a:r>
            <a:endParaRPr lang="en-US" sz="4000" dirty="0"/>
          </a:p>
        </p:txBody>
      </p:sp>
      <p:sp>
        <p:nvSpPr>
          <p:cNvPr id="12" name="Text 7"/>
          <p:cNvSpPr txBox="1"/>
          <p:nvPr/>
        </p:nvSpPr>
        <p:spPr>
          <a:xfrm>
            <a:off x="8732520" y="237744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since last order for customers who churned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8458200" y="3291840"/>
            <a:ext cx="3227832" cy="1600200"/>
          </a:xfrm>
          <a:prstGeom prst="roundRect">
            <a:avLst>
              <a:gd name="adj" fmla="val 5714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732520" y="3429000"/>
            <a:ext cx="2679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days</a:t>
            </a:r>
            <a:endParaRPr lang="en-US" sz="4000" dirty="0"/>
          </a:p>
        </p:txBody>
      </p:sp>
      <p:sp>
        <p:nvSpPr>
          <p:cNvPr id="15" name="Text 10"/>
          <p:cNvSpPr txBox="1"/>
          <p:nvPr/>
        </p:nvSpPr>
        <p:spPr>
          <a:xfrm>
            <a:off x="8732520" y="416052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since last order for customers who stayed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8458200" y="50749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Weaker signals: </a:t>
            </a:r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tickets, recent orders and tenure. Order value shows almost none.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02920" y="60533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climbs steadily with inactivity, then accelerates after about two months without an order.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292608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3" name="Image 0" descr="assets/logo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68" y="420624"/>
            <a:ext cx="832104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9024" y="374904"/>
            <a:ext cx="0" cy="310896"/>
          </a:xfrm>
          <a:prstGeom prst="line">
            <a:avLst/>
          </a:prstGeom>
          <a:noFill/>
          <a:ln w="12700">
            <a:solidFill>
              <a:srgbClr val="C9CEDD"/>
            </a:solidFill>
            <a:prstDash val="solid"/>
          </a:ln>
        </p:spPr>
      </p:sp>
      <p:pic>
        <p:nvPicPr>
          <p:cNvPr id="5" name="Image 1" descr="assets/l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76" y="420624"/>
            <a:ext cx="76809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MODELS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7132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Customer Behaviour to Prediction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11373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" y="155448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31520" y="1783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2" descr="assets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3" y="1931213"/>
            <a:ext cx="252374" cy="25237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31520" y="2468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731520" y="28163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customers, 5 behavioural features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3063240" y="2377440"/>
            <a:ext cx="256032" cy="237744"/>
          </a:xfrm>
          <a:prstGeom prst="rightArrow">
            <a:avLst/>
          </a:prstGeom>
          <a:solidFill>
            <a:srgbClr val="9AA5D6"/>
          </a:solidFill>
          <a:ln w="12700">
            <a:solidFill>
              <a:srgbClr val="9AA5D6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3410712" y="155448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639312" y="1783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7" name="Image 3" descr="assets/icon_tool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445" y="1931213"/>
            <a:ext cx="252374" cy="25237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639312" y="2468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3639312" y="28163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ratio features added (8 in total). No accuracy gain.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971032" y="2377440"/>
            <a:ext cx="256032" cy="237744"/>
          </a:xfrm>
          <a:prstGeom prst="rightArrow">
            <a:avLst/>
          </a:prstGeom>
          <a:solidFill>
            <a:srgbClr val="9AA5D6"/>
          </a:solidFill>
          <a:ln w="12700">
            <a:solidFill>
              <a:srgbClr val="9AA5D6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318504" y="155448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47104" y="1783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3" name="Image 4" descr="assets/icon_spl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5237" y="1931213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547104" y="2468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/ 20 / 20 split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547104" y="28163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 train, 4,000 validation, 4,000 test, stratified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8878824" y="2377440"/>
            <a:ext cx="256032" cy="237744"/>
          </a:xfrm>
          <a:prstGeom prst="rightArrow">
            <a:avLst/>
          </a:prstGeom>
          <a:solidFill>
            <a:srgbClr val="9AA5D6"/>
          </a:solidFill>
          <a:ln w="12700">
            <a:solidFill>
              <a:srgbClr val="9AA5D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226296" y="1554480"/>
            <a:ext cx="2468880" cy="1920240"/>
          </a:xfrm>
          <a:prstGeom prst="roundRect">
            <a:avLst>
              <a:gd name="adj" fmla="val 4762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454896" y="178308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9" name="Image 5" descr="assets/icon_model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3029" y="1931213"/>
            <a:ext cx="252374" cy="25237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454896" y="246888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models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9454896" y="281635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on the validation set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02920" y="3794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CLASSIFICATION MODELS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02920" y="41605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731520" y="4361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4782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weights. Interpretable baseline.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3410712" y="41605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3639312" y="4361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3639312" y="4782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weights. Captures non-linear patterns.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318504" y="41605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6547104" y="4361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500" dirty="0"/>
          </a:p>
        </p:txBody>
      </p:sp>
      <p:sp>
        <p:nvSpPr>
          <p:cNvPr id="41" name="Text 33"/>
          <p:cNvSpPr txBox="1"/>
          <p:nvPr/>
        </p:nvSpPr>
        <p:spPr>
          <a:xfrm>
            <a:off x="6547104" y="4782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sample weights. Sequential trees.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9226296" y="4160520"/>
            <a:ext cx="246888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35"/>
          <p:cNvSpPr txBox="1"/>
          <p:nvPr/>
        </p:nvSpPr>
        <p:spPr>
          <a:xfrm>
            <a:off x="9454896" y="43616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1500" dirty="0"/>
          </a:p>
        </p:txBody>
      </p:sp>
      <p:sp>
        <p:nvSpPr>
          <p:cNvPr id="44" name="Text 36"/>
          <p:cNvSpPr txBox="1"/>
          <p:nvPr/>
        </p:nvSpPr>
        <p:spPr>
          <a:xfrm>
            <a:off x="9454896" y="4782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Minority-class oversampling. Distance-based.</a:t>
            </a:r>
            <a:endParaRPr lang="en-US" sz="1200" dirty="0"/>
          </a:p>
        </p:txBody>
      </p:sp>
      <p:sp>
        <p:nvSpPr>
          <p:cNvPr id="45" name="Text 37"/>
          <p:cNvSpPr txBox="1"/>
          <p:nvPr/>
        </p:nvSpPr>
        <p:spPr>
          <a:xfrm>
            <a:off x="502920" y="60533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test set stayed untouched until the final check, so the last result is an honest read on unseen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292608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3" name="Image 0" descr="assets/logo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68" y="420624"/>
            <a:ext cx="832104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9024" y="374904"/>
            <a:ext cx="0" cy="310896"/>
          </a:xfrm>
          <a:prstGeom prst="line">
            <a:avLst/>
          </a:prstGeom>
          <a:noFill/>
          <a:ln w="12700">
            <a:solidFill>
              <a:srgbClr val="C9CEDD"/>
            </a:solidFill>
            <a:prstDash val="solid"/>
          </a:ln>
        </p:spPr>
      </p:sp>
      <p:pic>
        <p:nvPicPr>
          <p:cNvPr id="5" name="Image 1" descr="assets/l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76" y="420624"/>
            <a:ext cx="76809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PERFORMANCE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7132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Isn't the Whole Story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11373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73152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005840"/>
                <a:gridCol w="868680"/>
                <a:gridCol w="685800"/>
                <a:gridCol w="109728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9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Gradient Boosting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327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Recency only (baseline)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 nobody churns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rgbClr val="5B65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02920" y="5257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set (4,000 customers), default 0.50 threshold. Baselines in grey.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8366760" y="1554480"/>
            <a:ext cx="3319272" cy="1234440"/>
          </a:xfrm>
          <a:prstGeom prst="roundRect">
            <a:avLst>
              <a:gd name="adj" fmla="val 7407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595360" y="166420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92%</a:t>
            </a:r>
            <a:endParaRPr lang="en-US" sz="2400" dirty="0"/>
          </a:p>
        </p:txBody>
      </p:sp>
      <p:sp>
        <p:nvSpPr>
          <p:cNvPr id="13" name="Text 8"/>
          <p:cNvSpPr txBox="1"/>
          <p:nvPr/>
        </p:nvSpPr>
        <p:spPr>
          <a:xfrm>
            <a:off x="8595360" y="215798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from predicting “nobody churns”, while finding zero churners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8366760" y="2971800"/>
            <a:ext cx="3319272" cy="1234440"/>
          </a:xfrm>
          <a:prstGeom prst="roundRect">
            <a:avLst>
              <a:gd name="adj" fmla="val 7407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8595360" y="308152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 vs 0.75</a:t>
            </a:r>
            <a:endParaRPr lang="en-US" sz="2400" dirty="0"/>
          </a:p>
        </p:txBody>
      </p:sp>
      <p:sp>
        <p:nvSpPr>
          <p:cNvPr id="16" name="Text 11"/>
          <p:cNvSpPr txBox="1"/>
          <p:nvPr/>
        </p:nvSpPr>
        <p:spPr>
          <a:xfrm>
            <a:off x="8595360" y="357530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for Logistic Regression and Gradient Boosting: a near tie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366760" y="4389120"/>
            <a:ext cx="3319272" cy="1234440"/>
          </a:xfrm>
          <a:prstGeom prst="roundRect">
            <a:avLst>
              <a:gd name="adj" fmla="val 7407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595360" y="4498848"/>
            <a:ext cx="2862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48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 → 0.30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8595360" y="499262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F1 on training vs validation. KNN: 1.00 → 0.24. Both overfit.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502920" y="60533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rewards ignoring churners. Judge the models on how well they rank and find the customers who leave.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292608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3" name="Image 0" descr="assets/logo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68" y="420624"/>
            <a:ext cx="832104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9024" y="374904"/>
            <a:ext cx="0" cy="310896"/>
          </a:xfrm>
          <a:prstGeom prst="line">
            <a:avLst/>
          </a:prstGeom>
          <a:noFill/>
          <a:ln w="12700">
            <a:solidFill>
              <a:srgbClr val="C9CEDD"/>
            </a:solidFill>
            <a:prstDash val="solid"/>
          </a:ln>
        </p:spPr>
      </p:sp>
      <p:pic>
        <p:nvPicPr>
          <p:cNvPr id="5" name="Image 1" descr="assets/l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76" y="420624"/>
            <a:ext cx="76809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DISCOVER?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7132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 Is the Strongest Signal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11373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417320"/>
          <a:ext cx="56692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Shape 5"/>
          <p:cNvSpPr/>
          <p:nvPr/>
        </p:nvSpPr>
        <p:spPr>
          <a:xfrm>
            <a:off x="6537960" y="1508760"/>
            <a:ext cx="5148072" cy="1371600"/>
          </a:xfrm>
          <a:prstGeom prst="roundRect">
            <a:avLst>
              <a:gd name="adj" fmla="val 6667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6766560" y="1673352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6766560" y="1673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</a:t>
            </a:r>
            <a:endParaRPr lang="en-US" sz="1000" dirty="0"/>
          </a:p>
        </p:txBody>
      </p:sp>
      <p:sp>
        <p:nvSpPr>
          <p:cNvPr id="13" name="Text 8"/>
          <p:cNvSpPr txBox="1"/>
          <p:nvPr/>
        </p:nvSpPr>
        <p:spPr>
          <a:xfrm>
            <a:off x="8046720" y="1636776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since last order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766560" y="2039112"/>
            <a:ext cx="4690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rises from 3.2% to 67.3% as inactivity grows. On its own it reaches 0.74 ROC-AUC, against 0.76 for the full model.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537960" y="3063240"/>
            <a:ext cx="5148072" cy="1691640"/>
          </a:xfrm>
          <a:prstGeom prst="roundRect">
            <a:avLst>
              <a:gd name="adj" fmla="val 5405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766560" y="3227832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766560" y="32278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0" y="3191256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Support, orders and tenure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766560" y="3593592"/>
            <a:ext cx="46908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tickets: 6.1% churn at 0 tickets, 19.6% at 3+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last quarter: 9.1% at 4 or fewer, 6.3% at 7+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Tenure: 9.5% at 15 months or less, 6.7% at 46+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537960" y="4937760"/>
            <a:ext cx="5148072" cy="914400"/>
          </a:xfrm>
          <a:prstGeom prst="roundRect">
            <a:avLst>
              <a:gd name="adj" fmla="val 10000"/>
            </a:avLst>
          </a:prstGeom>
          <a:solidFill>
            <a:srgbClr val="F3F5FB"/>
          </a:solidFill>
          <a:ln w="12700">
            <a:solidFill>
              <a:srgbClr val="E3E7F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766560" y="5102352"/>
            <a:ext cx="1143000" cy="256032"/>
          </a:xfrm>
          <a:prstGeom prst="roundRect">
            <a:avLst>
              <a:gd name="adj" fmla="val 17857"/>
            </a:avLst>
          </a:prstGeom>
          <a:solidFill>
            <a:srgbClr val="5B6584"/>
          </a:solidFill>
          <a:ln w="12700">
            <a:solidFill>
              <a:srgbClr val="5B6584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766560" y="51023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046720" y="5065776"/>
            <a:ext cx="3410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766560" y="5468112"/>
            <a:ext cx="4690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stays between 7.4% and 8.5% in every value band.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502920" y="60533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who go quiet, and who contact support more, are the ones most likely to leave.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292608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3E7F3"/>
            </a:solidFill>
            <a:prstDash val="solid"/>
          </a:ln>
        </p:spPr>
      </p:sp>
      <p:pic>
        <p:nvPicPr>
          <p:cNvPr id="3" name="Image 0" descr="assets/logo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68" y="420624"/>
            <a:ext cx="832104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9024" y="374904"/>
            <a:ext cx="0" cy="310896"/>
          </a:xfrm>
          <a:prstGeom prst="line">
            <a:avLst/>
          </a:prstGeom>
          <a:noFill/>
          <a:ln w="12700">
            <a:solidFill>
              <a:srgbClr val="C9CEDD"/>
            </a:solidFill>
            <a:prstDash val="solid"/>
          </a:ln>
        </p:spPr>
      </p:sp>
      <p:pic>
        <p:nvPicPr>
          <p:cNvPr id="5" name="Image 1" descr="assets/l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76" y="420624"/>
            <a:ext cx="76809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DECISION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7132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32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Prediction to Early Warning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11373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02920" y="153619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02920" y="15361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43000" y="153619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customer behaviour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722376" y="1975104"/>
            <a:ext cx="0" cy="219456"/>
          </a:xfrm>
          <a:prstGeom prst="line">
            <a:avLst/>
          </a:prstGeom>
          <a:noFill/>
          <a:ln w="19050">
            <a:solidFill>
              <a:srgbClr val="9AA5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02920" y="2194560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0292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21945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churn probability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22376" y="2633472"/>
            <a:ext cx="0" cy="219456"/>
          </a:xfrm>
          <a:prstGeom prst="line">
            <a:avLst/>
          </a:prstGeom>
          <a:noFill/>
          <a:ln w="19050">
            <a:solidFill>
              <a:srgbClr val="9AA5D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02920" y="2852928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02920" y="2852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2852928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customers by risk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722376" y="3291840"/>
            <a:ext cx="0" cy="219456"/>
          </a:xfrm>
          <a:prstGeom prst="line">
            <a:avLst/>
          </a:prstGeom>
          <a:noFill/>
          <a:ln w="19050">
            <a:solidFill>
              <a:srgbClr val="9AA5D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02920" y="3511296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02920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143000" y="3511296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the customer's context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722376" y="3950208"/>
            <a:ext cx="0" cy="219456"/>
          </a:xfrm>
          <a:prstGeom prst="line">
            <a:avLst/>
          </a:prstGeom>
          <a:noFill/>
          <a:ln w="19050">
            <a:solidFill>
              <a:srgbClr val="9AA5D6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2920" y="4169664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02920" y="4169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1143000" y="4169664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 retention action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722376" y="4608576"/>
            <a:ext cx="0" cy="219456"/>
          </a:xfrm>
          <a:prstGeom prst="line">
            <a:avLst/>
          </a:prstGeom>
          <a:noFill/>
          <a:ln w="19050">
            <a:solidFill>
              <a:srgbClr val="9AA5D6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02920" y="4828032"/>
            <a:ext cx="438912" cy="43891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2920" y="48280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7"/>
          <p:cNvSpPr txBox="1"/>
          <p:nvPr/>
        </p:nvSpPr>
        <p:spPr>
          <a:xfrm>
            <a:off x="1143000" y="4828032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the outcome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502920" y="55321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actions: </a:t>
            </a:r>
            <a:pPr indent="0" marL="0">
              <a:buNone/>
            </a:pPr>
            <a:r>
              <a:rPr lang="en-US" sz="13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outreach, service follow-up, targeted incentives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6492240" y="1508760"/>
            <a:ext cx="5193792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58000" y="176479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ONLY THE RISKIEST 10%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6858000" y="21031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6000" dirty="0"/>
          </a:p>
        </p:txBody>
      </p:sp>
      <p:sp>
        <p:nvSpPr>
          <p:cNvPr id="36" name="Text 32"/>
          <p:cNvSpPr txBox="1"/>
          <p:nvPr/>
        </p:nvSpPr>
        <p:spPr>
          <a:xfrm>
            <a:off x="8686800" y="2167128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churners reached: 124 of 314 in validation, about 4× the base rate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3200400"/>
          <a:ext cx="446227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05840"/>
                <a:gridCol w="1051560"/>
                <a:gridCol w="868680"/>
                <a:gridCol w="6675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Churners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ADCF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Lift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5%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 (28%)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5.54×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10%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 (39%)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8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3.95×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20%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 (55%)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2.75×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0" marB="0" anchor="ctr">
                    <a:lnL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63"/>
                    </a:solidFill>
                  </a:tcPr>
                </a:tc>
              </a:tr>
            </a:tbl>
          </a:graphicData>
        </a:graphic>
      </p:graphicFrame>
      <p:sp>
        <p:nvSpPr>
          <p:cNvPr id="38" name="Text 33"/>
          <p:cNvSpPr txBox="1"/>
          <p:nvPr/>
        </p:nvSpPr>
        <p:spPr>
          <a:xfrm>
            <a:off x="6858000" y="516636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default 0.50 threshold the model flags about 1 in 4 customers.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6492240" y="5596128"/>
            <a:ext cx="5193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cost view: with assumed costs (5 per contact, 100 per retained customer, 30% save rate), net value peaks at a 0.70 threshold, not 0.50. Real figures are needed.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502920" y="605332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ranks customers for review. People decide who gets contacted, and how.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4312" y="292608"/>
            <a:ext cx="23317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assets/logo_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3768" y="420624"/>
            <a:ext cx="832104" cy="21945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0479024" y="374904"/>
            <a:ext cx="0" cy="310896"/>
          </a:xfrm>
          <a:prstGeom prst="line">
            <a:avLst/>
          </a:prstGeom>
          <a:noFill/>
          <a:ln w="12700">
            <a:solidFill>
              <a:srgbClr val="C9CEDD"/>
            </a:solidFill>
            <a:prstDash val="solid"/>
          </a:ln>
        </p:spPr>
      </p:sp>
      <p:pic>
        <p:nvPicPr>
          <p:cNvPr id="5" name="Image 1" descr="assets/logo_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176" y="420624"/>
            <a:ext cx="768096" cy="21945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RECOMMENDATION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71323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Carry Forward Logistic Regression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111373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1463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02920" y="182880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on both validation and test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94760" y="182880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02336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62–65%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402336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across train, validation and test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2920" y="324612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0.29–0.30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3959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across all three splits: stable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794760" y="3246120"/>
            <a:ext cx="3108960" cy="1234440"/>
          </a:xfrm>
          <a:prstGeom prst="roundRect">
            <a:avLst>
              <a:gd name="adj" fmla="val 7407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023360" y="3383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</a:t>
            </a:r>
            <a:endParaRPr lang="en-US" sz="3000" dirty="0"/>
          </a:p>
        </p:txBody>
      </p:sp>
      <p:sp>
        <p:nvSpPr>
          <p:cNvPr id="21" name="Text 17"/>
          <p:cNvSpPr txBox="1"/>
          <p:nvPr/>
        </p:nvSpPr>
        <p:spPr>
          <a:xfrm>
            <a:off x="4023360" y="39593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coefficients show recency drives risk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502920" y="4754880"/>
            <a:ext cx="457200" cy="45720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pic>
        <p:nvPicPr>
          <p:cNvPr id="23" name="Image 2" descr="assets/icon_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" y="4878324"/>
            <a:ext cx="210312" cy="21031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143000" y="4681728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is about 19%, and accuracy (76%) sits below the 92% baseline by design. Use the model to prioritise reviews, not as a final verdict.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7360920" y="1463040"/>
            <a:ext cx="4325112" cy="3429000"/>
          </a:xfrm>
          <a:prstGeom prst="roundRect">
            <a:avLst>
              <a:gd name="adj" fmla="val 2667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635240" y="1737360"/>
            <a:ext cx="457200" cy="457200"/>
          </a:xfrm>
          <a:prstGeom prst="ellipse">
            <a:avLst/>
          </a:prstGeom>
          <a:solidFill>
            <a:srgbClr val="141B49"/>
          </a:solidFill>
          <a:ln w="12700">
            <a:solidFill>
              <a:srgbClr val="141B49"/>
            </a:solidFill>
            <a:prstDash val="solid"/>
          </a:ln>
        </p:spPr>
      </p:sp>
      <p:pic>
        <p:nvPicPr>
          <p:cNvPr id="27" name="Image 3" descr="assets/icon_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684" y="1860804"/>
            <a:ext cx="210312" cy="2103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275320" y="173736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7635240" y="2514600"/>
            <a:ext cx="3776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threshold from contact cost versus retention value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when recency is measured relative to the churn label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retention actions and measure who is actually saved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502920" y="5623560"/>
            <a:ext cx="2194560" cy="621792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02920" y="56235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2788920" y="5815584"/>
            <a:ext cx="274320" cy="237744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108960" y="5623560"/>
            <a:ext cx="2194560" cy="621792"/>
          </a:xfrm>
          <a:prstGeom prst="roundRect">
            <a:avLst>
              <a:gd name="adj" fmla="val 50000"/>
            </a:avLst>
          </a:prstGeom>
          <a:solidFill>
            <a:srgbClr val="232C63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3108960" y="56235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2000" dirty="0"/>
          </a:p>
        </p:txBody>
      </p:sp>
      <p:sp>
        <p:nvSpPr>
          <p:cNvPr id="35" name="Shape 29"/>
          <p:cNvSpPr/>
          <p:nvPr/>
        </p:nvSpPr>
        <p:spPr>
          <a:xfrm>
            <a:off x="5394960" y="5815584"/>
            <a:ext cx="274320" cy="237744"/>
          </a:xfrm>
          <a:prstGeom prst="rightArrow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5715000" y="5623560"/>
            <a:ext cx="310896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5715000" y="5623560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Decision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Early-Warning Model</dc:title>
  <dc:subject>PptxGenJS Presentation</dc:subject>
  <dc:creator>Bamigbele Oluwaseun</dc:creator>
  <cp:lastModifiedBy>Bamigbele Oluwaseun</cp:lastModifiedBy>
  <cp:revision>1</cp:revision>
  <dcterms:created xsi:type="dcterms:W3CDTF">2026-09-20T06:16:49Z</dcterms:created>
  <dcterms:modified xsi:type="dcterms:W3CDTF">2026-09-20T06:16:49Z</dcterms:modified>
</cp:coreProperties>
</file>